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39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072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173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KAYAK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40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Recommander les meilleures destinations françaises, en temps réel,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partir de la météo et des hôtels.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17270" y="3246120"/>
            <a:ext cx="2217420" cy="365760"/>
          </a:xfrm>
          <a:prstGeom prst="roundRect">
            <a:avLst>
              <a:gd name="adj" fmla="val 50000"/>
            </a:avLst>
          </a:prstGeom>
          <a:solidFill>
            <a:srgbClr val="F3F0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17270" y="3246120"/>
            <a:ext cx="22174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A88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MÉTÉO DYNAMIQUE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63290" y="3246120"/>
            <a:ext cx="2217420" cy="365760"/>
          </a:xfrm>
          <a:prstGeom prst="roundRect">
            <a:avLst>
              <a:gd name="adj" fmla="val 50000"/>
            </a:avLst>
          </a:prstGeom>
          <a:solidFill>
            <a:srgbClr val="F3F0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463290" y="3246120"/>
            <a:ext cx="22174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A88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SCRAPING HÔTELS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09310" y="3246120"/>
            <a:ext cx="2217420" cy="365760"/>
          </a:xfrm>
          <a:prstGeom prst="roundRect">
            <a:avLst>
              <a:gd name="adj" fmla="val 50000"/>
            </a:avLst>
          </a:prstGeom>
          <a:solidFill>
            <a:srgbClr val="F3F0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909310" y="3246120"/>
            <a:ext cx="22174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A88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 → RDS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Data Engineering — Jedha — 11.08.2026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du projet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4297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12121"/>
                </a:solidFill>
              </a:rPr>
              <a:t>Objectif
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666666"/>
                </a:solidFill>
              </a:rPr>
              <a:t>70% des utilisateurs Kayak qui préparent un voyage veulent en savoir plus sur leur destination avant de réserver — et se méfient d'un contenu générique, non daté.
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12121"/>
                </a:solidFill>
              </a:rPr>
              <a:t>Solution
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666666"/>
                </a:solidFill>
              </a:rPr>
              <a:t>Une application qui recommande, à tout instant, les meilleures destinations françaises et leurs meilleurs hôtels — à partir de données météo et hôtelières réelles, pas d'un contenu figé.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212080" y="114300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3F0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40680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88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DESTINATION DU JOUR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40680" y="1645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Gorges du Verdon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40680" y="2148840"/>
            <a:ext cx="457200" cy="457200"/>
          </a:xfrm>
          <a:prstGeom prst="ellipse">
            <a:avLst/>
          </a:prstGeom>
          <a:solidFill>
            <a:srgbClr val="C2A48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0" descr="icon_s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221284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35040" y="2148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Score météo  </a:t>
            </a:r>
            <a:r>
              <a:rPr lang="en-US" sz="1100" b="1" dirty="0">
                <a:solidFill>
                  <a:srgbClr val="212121"/>
                </a:solidFill>
              </a:rPr>
              <a:t>99.3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40680" y="2834640"/>
            <a:ext cx="292608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544068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Camping l'Or Bleu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26680" y="3017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88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40680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Western Le Sud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26680" y="34747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88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40680" y="3931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Hôtel du Bastier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26680" y="39319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88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pipeline, en 6 étapes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457200" cy="457200"/>
          </a:xfrm>
          <a:prstGeom prst="ellipse">
            <a:avLst/>
          </a:prstGeom>
          <a:solidFill>
            <a:srgbClr val="C2A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0241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Géolocalisation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703320" y="102412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villes françaises géocodées (Nominatim)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673352"/>
            <a:ext cx="804672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548640" y="1709928"/>
            <a:ext cx="457200" cy="457200"/>
          </a:xfrm>
          <a:prstGeom prst="ellipse">
            <a:avLst/>
          </a:prstGeom>
          <a:solidFill>
            <a:srgbClr val="C2A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4864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6824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Météo &amp; scoring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03320" y="168249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Prévisions J+1 à J+5 (OpenWeather), score "beau temps"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331720"/>
            <a:ext cx="804672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548640" y="2368296"/>
            <a:ext cx="457200" cy="457200"/>
          </a:xfrm>
          <a:prstGeom prst="ellipse">
            <a:avLst/>
          </a:prstGeom>
          <a:solidFill>
            <a:srgbClr val="C2A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48640" y="2368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23408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Scraping hôtels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03320" y="234086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Booking.com — top 5 des hôtels du top 5 des villes (Selenium)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990088"/>
            <a:ext cx="804672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548640" y="3026664"/>
            <a:ext cx="457200" cy="457200"/>
          </a:xfrm>
          <a:prstGeom prst="ellipse">
            <a:avLst/>
          </a:prstGeom>
          <a:solidFill>
            <a:srgbClr val="C2A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4864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29992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03320" y="299923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enrichi (météo + hôtels) déposé sur S3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648456"/>
            <a:ext cx="804672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548640" y="3685032"/>
            <a:ext cx="457200" cy="457200"/>
          </a:xfrm>
          <a:prstGeom prst="ellipse">
            <a:avLst/>
          </a:prstGeom>
          <a:solidFill>
            <a:srgbClr val="C2A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4864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warehouse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03320" y="36576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vers RDS PostgreSQL — schéma normalisé villes / hôtels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306824"/>
            <a:ext cx="8046720" cy="0"/>
          </a:xfrm>
          <a:prstGeom prst="line">
            <a:avLst/>
          </a:prstGeom>
          <a:noFill/>
          <a:ln w="9525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C2A48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486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34440" y="43159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703320" y="43159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Cartes Plotly — Top-5 destinations, Top-20 hôtels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choix techniques clés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624328" cy="3383280"/>
          </a:xfrm>
          <a:prstGeom prst="roundRect">
            <a:avLst>
              <a:gd name="adj" fmla="val 3484"/>
            </a:avLst>
          </a:prstGeom>
          <a:solidFill>
            <a:srgbClr val="F3F0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C2A48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icon_refre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170" y="15919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Météo recalculée à chaque run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3108960"/>
            <a:ext cx="207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L'API gratuite ne couvre que J+1 à J+5 : le score est recalculé à chaque exécution, et les dates Booking sont alignées sur cette même fenêtre.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429000" y="1234440"/>
            <a:ext cx="2624328" cy="3383280"/>
          </a:xfrm>
          <a:prstGeom prst="roundRect">
            <a:avLst>
              <a:gd name="adj" fmla="val 3484"/>
            </a:avLst>
          </a:prstGeom>
          <a:solidFill>
            <a:srgbClr val="F3F0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3703320" y="1508760"/>
            <a:ext cx="594360" cy="594360"/>
          </a:xfrm>
          <a:prstGeom prst="ellipse">
            <a:avLst/>
          </a:prstGeom>
          <a:solidFill>
            <a:srgbClr val="C2A48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1" descr="icon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6530" y="159197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03320" y="2286000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"beau temps", pas "plus chaud"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703320" y="3108960"/>
            <a:ext cx="207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100 − |écart à 25°C| × 4 − pluie × 40. Une ville à 30°C perd des points : on cherche le confort, pas la canicule.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309360" y="1234440"/>
            <a:ext cx="2624328" cy="3383280"/>
          </a:xfrm>
          <a:prstGeom prst="roundRect">
            <a:avLst>
              <a:gd name="adj" fmla="val 3484"/>
            </a:avLst>
          </a:prstGeom>
          <a:solidFill>
            <a:srgbClr val="F3F0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6583680" y="1508760"/>
            <a:ext cx="594360" cy="594360"/>
          </a:xfrm>
          <a:prstGeom prst="ellipse">
            <a:avLst/>
          </a:prstGeom>
          <a:solidFill>
            <a:srgbClr val="C2A48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2" descr="icon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6890" y="159197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83680" y="2286000"/>
            <a:ext cx="207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Schéma RDS normalisé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583680" y="3108960"/>
            <a:ext cx="207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villes (1 ligne/ville) + table hotels (clé étrangère city_id) : pas de redondance, une jointure pour tout retrouver.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The image is a map showing various locations in Europe and their weather scores, with a bar chart indicating their rankings.&#10;&#10;Le contenu généré par l’IA peut être incorrect.">
            <a:extLst>
              <a:ext uri="{FF2B5EF4-FFF2-40B4-BE49-F238E27FC236}">
                <a16:creationId xmlns:a16="http://schemas.microsoft.com/office/drawing/2014/main" id="{F5975B6F-956D-755A-40E8-E962E8752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038820"/>
            <a:ext cx="3968749" cy="3065858"/>
          </a:xfrm>
          <a:prstGeom prst="rect">
            <a:avLst/>
          </a:prstGeom>
        </p:spPr>
      </p:pic>
      <p:pic>
        <p:nvPicPr>
          <p:cNvPr id="5" name="Image 4" descr="The image depicts a map with markers indicating the top 20 hotel locations in France and other regions, with their respective customer satisfaction ratings.&#10;&#10;Le contenu généré par l’IA peut être incorrect.">
            <a:extLst>
              <a:ext uri="{FF2B5EF4-FFF2-40B4-BE49-F238E27FC236}">
                <a16:creationId xmlns:a16="http://schemas.microsoft.com/office/drawing/2014/main" id="{1F0449E3-3ECE-311C-1FF0-AD3A26569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648" y="1038819"/>
            <a:ext cx="3968751" cy="306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994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trois attendus du brief marketing, tous les trois en place.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24328" cy="3017520"/>
          </a:xfrm>
          <a:prstGeom prst="roundRect">
            <a:avLst>
              <a:gd name="adj" fmla="val 3484"/>
            </a:avLst>
          </a:prstGeom>
          <a:solidFill>
            <a:srgbClr val="F3F0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540764" y="1783080"/>
            <a:ext cx="640080" cy="640080"/>
          </a:xfrm>
          <a:prstGeom prst="ellipse">
            <a:avLst/>
          </a:prstGeom>
          <a:solidFill>
            <a:srgbClr val="C2A48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icon_file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375" y="187269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51760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enrichi sur S3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200400"/>
            <a:ext cx="216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Météo + hôtels fusionnés, un objet par run dans le data lake.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70048" y="3977640"/>
            <a:ext cx="320040" cy="320040"/>
          </a:xfrm>
          <a:prstGeom prst="ellipse">
            <a:avLst/>
          </a:prstGeom>
          <a:solidFill>
            <a:srgbClr val="A8896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1" descr="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854" y="4022446"/>
            <a:ext cx="230429" cy="230429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29000" y="1463040"/>
            <a:ext cx="2624328" cy="3017520"/>
          </a:xfrm>
          <a:prstGeom prst="roundRect">
            <a:avLst>
              <a:gd name="adj" fmla="val 3484"/>
            </a:avLst>
          </a:prstGeom>
          <a:solidFill>
            <a:srgbClr val="F3F0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4421124" y="1783080"/>
            <a:ext cx="640080" cy="640080"/>
          </a:xfrm>
          <a:prstGeom prst="ellipse">
            <a:avLst/>
          </a:prstGeom>
          <a:solidFill>
            <a:srgbClr val="C2A48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2" descr="icon_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0735" y="1872691"/>
            <a:ext cx="460858" cy="46085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11880" y="2651760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SQL sur RDS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657600" y="3200400"/>
            <a:ext cx="216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Mêmes données nettoyées, retrouvables via une jointure SQL.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550408" y="3977640"/>
            <a:ext cx="320040" cy="320040"/>
          </a:xfrm>
          <a:prstGeom prst="ellipse">
            <a:avLst/>
          </a:prstGeom>
          <a:solidFill>
            <a:srgbClr val="A8896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3" descr="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5214" y="4022446"/>
            <a:ext cx="230429" cy="230429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309360" y="1463040"/>
            <a:ext cx="2624328" cy="3017520"/>
          </a:xfrm>
          <a:prstGeom prst="roundRect">
            <a:avLst>
              <a:gd name="adj" fmla="val 3484"/>
            </a:avLst>
          </a:prstGeom>
          <a:solidFill>
            <a:srgbClr val="F3F0E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3"/>
          <p:cNvSpPr/>
          <p:nvPr/>
        </p:nvSpPr>
        <p:spPr>
          <a:xfrm>
            <a:off x="7301484" y="1783080"/>
            <a:ext cx="640080" cy="640080"/>
          </a:xfrm>
          <a:prstGeom prst="ellipse">
            <a:avLst/>
          </a:prstGeom>
          <a:solidFill>
            <a:srgbClr val="C2A48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4" descr="icon_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1095" y="1872691"/>
            <a:ext cx="460858" cy="46085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92240" y="2651760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cartes Plotly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6537960" y="3200400"/>
            <a:ext cx="216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Top-5 destinations et Top-20 hôtels, interactives.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8430768" y="3977640"/>
            <a:ext cx="320040" cy="320040"/>
          </a:xfrm>
          <a:prstGeom prst="ellipse">
            <a:avLst/>
          </a:prstGeom>
          <a:solidFill>
            <a:srgbClr val="A8896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4" name="Image 5" descr="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5574" y="4022446"/>
            <a:ext cx="230429" cy="2304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965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Avez-vous des questions 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405</Words>
  <Application>Microsoft Office PowerPoint</Application>
  <PresentationFormat>Affichage à l'écran (16:9)</PresentationFormat>
  <Paragraphs>63</Paragraphs>
  <Slides>7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Quincy Mfumu</cp:lastModifiedBy>
  <cp:revision>2</cp:revision>
  <dcterms:created xsi:type="dcterms:W3CDTF">2026-08-11T11:03:30Z</dcterms:created>
  <dcterms:modified xsi:type="dcterms:W3CDTF">2026-08-11T15:14:17Z</dcterms:modified>
</cp:coreProperties>
</file>